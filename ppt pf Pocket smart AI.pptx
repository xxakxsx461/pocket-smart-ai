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JetBrains Mono" panose="020B0604020202020204" charset="0"/>
      <p:regular r:id="rId13"/>
    </p:embeddedFont>
    <p:embeddedFont>
      <p:font typeface="JetBrains Mono Medium" panose="020B0604020202020204" charset="0"/>
      <p:regular r:id="rId14"/>
    </p:embeddedFont>
    <p:embeddedFont>
      <p:font typeface="JetBrains Mono SemiBold" panose="020B0604020202020204" charset="0"/>
      <p:regular r:id="rId15"/>
    </p:embeddedFont>
    <p:embeddedFont>
      <p:font typeface="Martian Mono Bold" panose="020B0604020202020204" charset="0"/>
      <p:regular r:id="rId16"/>
    </p:embeddedFont>
    <p:embeddedFont>
      <p:font typeface="Martian Mono Extra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64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F8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5029074" cy="1132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50" kern="0" spc="89" dirty="0">
                <a:solidFill>
                  <a:srgbClr val="FFFFFF"/>
                </a:solidFill>
                <a:latin typeface="Martian Mono ExtraBold" pitchFamily="34" charset="0"/>
                <a:ea typeface="Martian Mono ExtraBold" pitchFamily="34" charset="-122"/>
                <a:cs typeface="Martian Mono ExtraBold" pitchFamily="34" charset="-120"/>
              </a:rPr>
              <a:t>POCKETSMART AI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747837"/>
            <a:ext cx="1803355" cy="1803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3681809"/>
            <a:ext cx="4521087" cy="25444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189" y="6356846"/>
            <a:ext cx="548626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75" dirty="0">
                <a:solidFill>
                  <a:srgbClr val="A9BE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YOUR SMART BUDGET &amp; RECOMMENDATION ASSISTANT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457189" y="6643092"/>
            <a:ext cx="5486263" cy="219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BCA Project Documentation Presentation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0"/>
            <a:ext cx="5943451" cy="53721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0" y="6089154"/>
            <a:ext cx="4063898" cy="768846"/>
          </a:xfrm>
          <a:prstGeom prst="rect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58746" y="6197104"/>
            <a:ext cx="3905152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75" dirty="0">
                <a:solidFill>
                  <a:srgbClr val="A9BE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158746" y="6483350"/>
            <a:ext cx="39051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PocketSmart AI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063898" y="6089154"/>
            <a:ext cx="4063898" cy="768846"/>
          </a:xfrm>
          <a:prstGeom prst="rect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222644" y="6197104"/>
            <a:ext cx="3905152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75" dirty="0">
                <a:solidFill>
                  <a:srgbClr val="A9BE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222644" y="6483350"/>
            <a:ext cx="39051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BCA documentation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127797" y="6089154"/>
            <a:ext cx="4063898" cy="768846"/>
          </a:xfrm>
          <a:prstGeom prst="rect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86543" y="6197104"/>
            <a:ext cx="3905152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0" spc="75" dirty="0">
                <a:solidFill>
                  <a:srgbClr val="A9BE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SHEET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8286543" y="6483350"/>
            <a:ext cx="39051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OF 10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15D92D5-90BC-D22A-ACBD-470C1AC0F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0" spc="84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PROJECT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661120"/>
            <a:ext cx="244469" cy="2444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7981" y="1713508"/>
            <a:ext cx="77726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F3F8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6450" y="1624608"/>
            <a:ext cx="1057566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Planning home décor, events, and jewelry can be difficult across many products, platforms, and price ranges.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3386733"/>
            <a:ext cx="244469" cy="2444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7981" y="3439120"/>
            <a:ext cx="77726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F3F8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6450" y="3350220"/>
            <a:ext cx="1057566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PocketSmart AI uses budget and preferences to shape personalized, cross-platform recommendations.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5114826"/>
            <a:ext cx="244469" cy="2444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1" y="5167213"/>
            <a:ext cx="77726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F3F8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6450" y="5078313"/>
            <a:ext cx="1072805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focused planners support home interiors, parties, and occasion jewelry.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201120" y="6537325"/>
            <a:ext cx="99057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189" y="2757289"/>
            <a:ext cx="11277318" cy="12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189" y="4483001"/>
            <a:ext cx="11277318" cy="127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0" spc="84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POCKETSMART AI TURNS A BUDGET INTO A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189" y="2743101"/>
            <a:ext cx="6492117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Users provide a budget and contextual preferences; the system interprets the request and returns curated suggestions suited to their needs and selected category.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Gemini 1.5 Flash Pro is described as the recommendation and multimodal analysis layer.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395" y="2707382"/>
            <a:ext cx="4328111" cy="15667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2435" y="2948759"/>
            <a:ext cx="2670318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23" dirty="0">
                <a:solidFill>
                  <a:srgbClr val="000000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USER INPUTS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722435" y="3424841"/>
            <a:ext cx="2670318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23" dirty="0">
                <a:solidFill>
                  <a:srgbClr val="000000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GEMINI 1.5 FLASH PRO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722435" y="3896594"/>
            <a:ext cx="2670318" cy="1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kern="0" spc="23" dirty="0">
                <a:solidFill>
                  <a:srgbClr val="000000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CURATED RECOMMENDATIONS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201120" y="6537325"/>
            <a:ext cx="99057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0" spc="84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THREE PLANNERS ADDRESS DISTINCT LIFE NEEDS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189" y="2218630"/>
            <a:ext cx="3555911" cy="2347516"/>
          </a:xfrm>
          <a:prstGeom prst="rect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2133" y="2453580"/>
            <a:ext cx="428614" cy="4286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2548830"/>
            <a:ext cx="238119" cy="238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2133" y="2996505"/>
            <a:ext cx="308602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Home Interior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2133" y="3502521"/>
            <a:ext cx="308602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Rooms, quantities, furnishings, décor, and lighting.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17892" y="2218630"/>
            <a:ext cx="3555911" cy="2347516"/>
          </a:xfrm>
          <a:prstGeom prst="rect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52836" y="2453580"/>
            <a:ext cx="428614" cy="4286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084" y="2548830"/>
            <a:ext cx="238119" cy="238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2836" y="2996505"/>
            <a:ext cx="308602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52836" y="3502521"/>
            <a:ext cx="308602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 type, guests, venue, catering, decoration, and entertainment.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78595" y="2218630"/>
            <a:ext cx="3555911" cy="2347516"/>
          </a:xfrm>
          <a:prstGeom prst="rect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3540" y="2453580"/>
            <a:ext cx="428614" cy="4286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787" y="2548830"/>
            <a:ext cx="238119" cy="238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3540" y="2996505"/>
            <a:ext cx="308602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Jewelry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413540" y="3502521"/>
            <a:ext cx="30860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Budget, occasion, style, and optional outfit image.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11201120" y="6537325"/>
            <a:ext cx="99057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0" spc="84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HOME INTERIOR PLANNER: ALLOCATE ROOM BY ROOM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666280"/>
            <a:ext cx="571486" cy="142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170" y="1856780"/>
            <a:ext cx="609078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51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SELECT PLANNER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219170" y="2251670"/>
            <a:ext cx="609078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the Home Budget Planner and enter the total budget.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31" y="2999780"/>
            <a:ext cx="571486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4912" y="3190280"/>
            <a:ext cx="580504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51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SPECIFY ROOMS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504912" y="3585170"/>
            <a:ext cx="580504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Specify room types, such as living room, kitchen, and bedroom.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74" y="4444802"/>
            <a:ext cx="571486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90655" y="4635302"/>
            <a:ext cx="551930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51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ENTER QUANTITIES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790655" y="5030192"/>
            <a:ext cx="551930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 item quantities for lights, ceiling fans, dining tables, and similar needs.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767046" y="2982416"/>
            <a:ext cx="39674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BE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RECOMMENDATION LAYER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767046" y="3278287"/>
            <a:ext cx="396746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Gemini recommends cost-effective options across platforms such as IKEA and Amazon, balancing function, style, and price.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11201120" y="6537325"/>
            <a:ext cx="99057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0" spc="84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PARTY PLANNER: DISTRIBUTE SPEND BY EVENT NEED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189" y="2424906"/>
            <a:ext cx="468876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BE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INPUTS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2720777"/>
            <a:ext cx="468876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budget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Guest count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 type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Venue details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189" y="4092377"/>
            <a:ext cx="468876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BE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CONTEXTS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189" y="4388247"/>
            <a:ext cx="468876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Birthday, corporate, and wedding contexts tailor recommendations.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040" y="2054622"/>
            <a:ext cx="6131466" cy="3256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66666" y="2250829"/>
            <a:ext cx="2321854" cy="18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33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INPUTS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66666" y="2499984"/>
            <a:ext cx="2321854" cy="33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budget, guests, event type, venue.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763" y="2299881"/>
            <a:ext cx="190070" cy="1900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12353" y="3017264"/>
            <a:ext cx="2321854" cy="18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33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ALLOCATION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212353" y="3266418"/>
            <a:ext cx="2321854" cy="33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splits budget for catering, decor, entertainment.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2056" y="3066315"/>
            <a:ext cx="190070" cy="1900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67535" y="3869538"/>
            <a:ext cx="2321855" cy="18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33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267535" y="4118694"/>
            <a:ext cx="2321855" cy="33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Swiggy, Zomato options and OYO stays.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7238" y="3918590"/>
            <a:ext cx="190071" cy="1900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0898" y="4556264"/>
            <a:ext cx="2321854" cy="18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33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770898" y="4805419"/>
            <a:ext cx="2321854" cy="33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Venue details and vendor coordination plan.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0601" y="4611447"/>
            <a:ext cx="190070" cy="19007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11201120" y="6537325"/>
            <a:ext cx="99057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0" spc="84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JEWELRY PLANNER: MATCH OCCASION, STYLE, AND BUDGET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189" y="3016052"/>
            <a:ext cx="613136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 a budget, occasion, and style preferences.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Optionally upload an outfit image for color coordination and aesthetic context.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 product platforms: Amazon and Flipkart.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645" y="2710755"/>
            <a:ext cx="4688862" cy="1943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55784" y="3176224"/>
            <a:ext cx="1186451" cy="13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50" b="1" kern="0" spc="25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BUDGET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670" y="3123377"/>
            <a:ext cx="234437" cy="2344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37916" y="3102472"/>
            <a:ext cx="1186451" cy="276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50" b="1" kern="0" spc="25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STYLE &amp; OCCASION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289" y="3113999"/>
            <a:ext cx="234437" cy="2344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395717" y="4067111"/>
            <a:ext cx="1186452" cy="13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50" b="1" kern="0" spc="25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OUTFIT IMAGE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3600" y="4018952"/>
            <a:ext cx="234439" cy="2344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55784" y="4067111"/>
            <a:ext cx="1186451" cy="13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50" b="1" kern="0" spc="25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GEMINI MATCHES</a:t>
            </a:r>
            <a:endParaRPr lang="en-US" sz="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3980" y="4018952"/>
            <a:ext cx="234439" cy="234444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4" name="Text 7"/>
          <p:cNvSpPr/>
          <p:nvPr/>
        </p:nvSpPr>
        <p:spPr>
          <a:xfrm>
            <a:off x="11201120" y="6537325"/>
            <a:ext cx="99057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206228"/>
            <a:ext cx="117345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BE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 2 · 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2467173"/>
            <a:ext cx="838179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0" spc="128" dirty="0">
                <a:solidFill>
                  <a:srgbClr val="FFFFFF"/>
                </a:solidFill>
                <a:latin typeface="Martian Mono ExtraBold" pitchFamily="34" charset="0"/>
                <a:ea typeface="Martian Mono ExtraBold" pitchFamily="34" charset="-122"/>
                <a:cs typeface="Martian Mono ExtraBold" pitchFamily="34" charset="-120"/>
              </a:rPr>
              <a:t>ARCHITECTURE &amp; TECHNOLOGY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189" y="4320282"/>
            <a:ext cx="1173450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browser input to personalized recommendation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0" spc="84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ARCHITECTURE OVERVIEW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013248"/>
            <a:ext cx="6852768" cy="29551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0018" y="2357744"/>
            <a:ext cx="3768527" cy="2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37" dirty="0">
                <a:solidFill>
                  <a:srgbClr val="000000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20018" y="3043026"/>
            <a:ext cx="3768527" cy="2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37" dirty="0">
                <a:solidFill>
                  <a:srgbClr val="000000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BACKEND ROUTING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0018" y="3721455"/>
            <a:ext cx="3768527" cy="2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37" dirty="0">
                <a:solidFill>
                  <a:srgbClr val="000000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GEMINI 1.5 FLASH 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0018" y="4399884"/>
            <a:ext cx="3768527" cy="20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37" dirty="0">
                <a:solidFill>
                  <a:srgbClr val="000000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RECOMMENDATION RENDER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67046" y="1985566"/>
            <a:ext cx="39674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BE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SYSTEM POSTURE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67046" y="2281436"/>
            <a:ext cx="3967460" cy="271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 move through a modular flow: interface, backend, Gemini AI layer, and rendered recommendation.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Optional image input is relevant to jewelry planning.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Third-party platform data may be sourced or simulated, depending on the implementation section.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201120" y="6537325"/>
            <a:ext cx="99057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0" spc="84" dirty="0">
                <a:solidFill>
                  <a:srgbClr val="FFFFFF"/>
                </a:solidFill>
                <a:latin typeface="Martian Mono Bold" pitchFamily="34" charset="0"/>
                <a:ea typeface="Martian Mono Bold" pitchFamily="34" charset="-122"/>
                <a:cs typeface="Martian Mono Bold" pitchFamily="34" charset="-120"/>
              </a:rPr>
              <a:t>COMPONENT-WISE ARCHITECTURE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712813"/>
            <a:ext cx="6321565" cy="35559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80193" y="1216323"/>
            <a:ext cx="244469" cy="2444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8318590" y="1268710"/>
            <a:ext cx="77726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F3F8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77058" y="1167110"/>
            <a:ext cx="290505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Frontend UI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77058" y="1590576"/>
            <a:ext cx="290505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1" dirty="0">
                <a:solidFill>
                  <a:srgbClr val="A9BE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Collects budget, preferences, and images; displays tailored recommendations.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80193" y="2442666"/>
            <a:ext cx="244469" cy="2444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318590" y="2495054"/>
            <a:ext cx="77726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F3F8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77058" y="2393454"/>
            <a:ext cx="290505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Backend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77058" y="2816920"/>
            <a:ext cx="290505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1" dirty="0">
                <a:solidFill>
                  <a:srgbClr val="A9BE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Routes requests, connects the interface to Gemini, and manages sessions.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80193" y="3669010"/>
            <a:ext cx="244469" cy="2444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8318590" y="3721398"/>
            <a:ext cx="77726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F3F8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77058" y="3619798"/>
            <a:ext cx="290505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Gemini AI layer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77058" y="4043263"/>
            <a:ext cx="290505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1" dirty="0">
                <a:solidFill>
                  <a:srgbClr val="A9BE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Interprets text, numbers, and images; generates structured suggestions.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80193" y="4895453"/>
            <a:ext cx="244469" cy="2444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8318590" y="4947841"/>
            <a:ext cx="77726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F3F8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77058" y="4846241"/>
            <a:ext cx="290505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External platforms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677058" y="5269706"/>
            <a:ext cx="290505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1" dirty="0">
                <a:solidFill>
                  <a:srgbClr val="A9BE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and service examples include Amazon, Flipkart, IKEA, Zomato, and others.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1201120" y="6537325"/>
            <a:ext cx="99057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127797" y="2258020"/>
            <a:ext cx="3606710" cy="12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8127797" y="3484364"/>
            <a:ext cx="3606710" cy="12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8127797" y="4710807"/>
            <a:ext cx="3606710" cy="127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539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Martian Mono ExtraBold</vt:lpstr>
      <vt:lpstr>JetBrains Mono Medium</vt:lpstr>
      <vt:lpstr>Martian Mono Bold</vt:lpstr>
      <vt:lpstr>Arial</vt:lpstr>
      <vt:lpstr>JetBrains Mono SemiBold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SDCLAB3</dc:creator>
  <cp:lastModifiedBy>SDCLAB3</cp:lastModifiedBy>
  <cp:revision>2</cp:revision>
  <dcterms:created xsi:type="dcterms:W3CDTF">2026-09-24T07:29:45Z</dcterms:created>
  <dcterms:modified xsi:type="dcterms:W3CDTF">2026-09-29T06:55:00Z</dcterms:modified>
</cp:coreProperties>
</file>